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MiVCnQJ8bEWIe6TMxBl5sYH4d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Robo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" name="Google Shape;9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/>
          <p:nvPr/>
        </p:nvSpPr>
        <p:spPr>
          <a:xfrm>
            <a:off x="793790" y="1466850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Dominar el Descenso del Gradiente: Un Recorrido Multidimensional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793790" y="3933349"/>
            <a:ext cx="7556421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El descenso del gradiente es una poderosa técnica de optimización utilizada ampliamente en el campo del aprendizaje automático y la inteligencia artificial. En esta presentación, exploraremos cómo aplicar este método en espacios dimensionales de 2D, 3D y más, brindando una comprensión profunda de las fórmulas y pasos clave para un dominio efectivo de esta herramienta.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793790" y="6382822"/>
            <a:ext cx="362903" cy="362903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410" y="6390442"/>
            <a:ext cx="347663" cy="34766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/>
          <p:nvPr/>
        </p:nvSpPr>
        <p:spPr>
          <a:xfrm>
            <a:off x="1270040" y="6365915"/>
            <a:ext cx="2632115" cy="39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por sebastian vallejo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/>
          <p:nvPr/>
        </p:nvSpPr>
        <p:spPr>
          <a:xfrm>
            <a:off x="396835" y="321350"/>
            <a:ext cx="391096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2200"/>
              <a:buFont typeface="Roboto Slab"/>
              <a:buNone/>
            </a:pPr>
            <a:r>
              <a:rPr lang="en-US" sz="22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Descenso del Gradiente en 2D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96835" y="902494"/>
            <a:ext cx="13836729" cy="18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El descenso del gradiente en un espacio bidimensional (2D) es el método más sencillo de comprender y aplicar.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Imagina una superficie con un paisaje de colinas y valles, donde buscamos encontrar el punto más bajo</a:t>
            </a:r>
            <a:r>
              <a:rPr lang="en-US" sz="8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96834" y="1392912"/>
            <a:ext cx="1383672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Mediante un proceso iterativo, ajustamos los valores de las variables (x e y) en la dirección opuesta al gradiente, es decir, la dirección de la máxima pendiente descendente. Esto nos permite movernos hacia el mínimo global de manera eficiente, paso a paso, hasta alcanzar la solución optima.</a:t>
            </a:r>
            <a:endParaRPr/>
          </a:p>
        </p:txBody>
      </p:sp>
      <p:pic>
        <p:nvPicPr>
          <p:cNvPr descr="preencoded.png" id="58" name="Google Shape;5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835" y="1935193"/>
            <a:ext cx="8619411" cy="589740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396835" y="7726799"/>
            <a:ext cx="13836729" cy="18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Roboto"/>
              <a:buNone/>
            </a:pPr>
            <a:r>
              <a:rPr lang="en-US" sz="8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La simplicidad de este enfoque 2D sienta las bases para comprender el descenso del gradiente en espacios de mayor dimensionalidad.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793790" y="1132523"/>
            <a:ext cx="1118115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4450"/>
              <a:buFont typeface="Roboto Slab"/>
              <a:buNone/>
            </a:pPr>
            <a:r>
              <a:rPr lang="en-US" sz="445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Fórmula del Descenso del Gradiente en 2D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93790" y="229493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Char char="•"/>
            </a:pP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La fórmula del descenso del gradiente en 2D se puede expresar de la siguiente manera: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93790" y="273712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Char char="•"/>
            </a:pP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x_new = x_old - α * ∂f/∂x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93790" y="317932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Char char="•"/>
            </a:pP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y_new = y_old - α * ∂f/∂y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93790" y="3621524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Char char="•"/>
            </a:pP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Donde: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93790" y="4063722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Char char="•"/>
            </a:pP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x_new e y_new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son los nuevos valores actualizados de las variables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93790" y="450592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Char char="•"/>
            </a:pP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x_old e y_old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son los valores iniciales de las variables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93790" y="494811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Char char="•"/>
            </a:pP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α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es el tamaño del paso, también conocido como la tasa de aprendizaje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93790" y="539031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Char char="•"/>
            </a:pP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∂f/∂x y ∂f/∂y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son las derivadas parciales de la función </a:t>
            </a: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con respecto a </a:t>
            </a: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, respectivamente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93790" y="6008370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Estas fórmulas nos permiten ajustar iterativamente los valores de </a:t>
            </a: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en la dirección opuesta al gradiente, acercándonos así al mínimo global de la función. La clave está en elegir un tamaño de paso apropiado que permita una convergencia rápida y eficiente.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793790" y="1988463"/>
            <a:ext cx="781812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4450"/>
              <a:buFont typeface="Roboto Slab"/>
              <a:buNone/>
            </a:pPr>
            <a:r>
              <a:rPr lang="en-US" sz="445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Descenso del Gradiente en 3D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793790" y="3241477"/>
            <a:ext cx="624470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Cuando pasamos a un espacio tridimensional (3D), el descenso del gradiente se vuelve más complejo, pero también más poderoso. Imagina una superficie 3D con colinas, valles y crestas que representan los posibles valores de una función.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599521" y="3241477"/>
            <a:ext cx="624470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En este caso, en lugar de ajustar solo dos variables (x e y), debemos actualizar tres variables (x, y, z) en la dirección opuesta al gradiente tridimensional. Esto nos permite explorar un espacio de soluciones mucho más amplio y encontrar el mínimo global de manera más precisa.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93790" y="551521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La adición de una dimensión extra nos brinda una visión más completa del paisaje de la función, lo que puede ser crucial en problemas de optimización más complejos.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780098" y="614243"/>
            <a:ext cx="10981849" cy="696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4350"/>
              <a:buFont typeface="Roboto Slab"/>
              <a:buNone/>
            </a:pPr>
            <a:r>
              <a:rPr lang="en-US" sz="435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Fórmula del Descenso del Gradiente en 3D</a:t>
            </a:r>
            <a:endParaRPr sz="4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80098" y="2007275"/>
            <a:ext cx="501491" cy="501491"/>
          </a:xfrm>
          <a:prstGeom prst="roundRect">
            <a:avLst>
              <a:gd fmla="val 6667" name="adj"/>
            </a:avLst>
          </a:prstGeom>
          <a:solidFill>
            <a:srgbClr val="3F46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961906" y="2090857"/>
            <a:ext cx="137755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600"/>
              <a:buFont typeface="Roboto Slab"/>
              <a:buNone/>
            </a:pPr>
            <a:r>
              <a:rPr lang="en-US" sz="26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504474" y="2007275"/>
            <a:ext cx="2786301" cy="348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150"/>
              <a:buFont typeface="Roboto Slab"/>
              <a:buNone/>
            </a:pPr>
            <a:r>
              <a:rPr lang="en-US" sz="215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Fórmula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504474" y="2489240"/>
            <a:ext cx="3483769" cy="1069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La fórmula del descenso del gradiente en 3D se expresa de la siguiente manera: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504474" y="3692723"/>
            <a:ext cx="3483769" cy="356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x_new = x_old - α * ∂f/∂x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504474" y="4183023"/>
            <a:ext cx="3483769" cy="356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y_new = y_old - α * ∂f/∂y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504474" y="4673322"/>
            <a:ext cx="3483769" cy="356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z_new = z_old - α * ∂f/∂z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211128" y="2007275"/>
            <a:ext cx="501491" cy="501491"/>
          </a:xfrm>
          <a:prstGeom prst="roundRect">
            <a:avLst>
              <a:gd fmla="val 6667" name="adj"/>
            </a:avLst>
          </a:prstGeom>
          <a:solidFill>
            <a:srgbClr val="3F46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5369481" y="2090857"/>
            <a:ext cx="184666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600"/>
              <a:buFont typeface="Roboto Slab"/>
              <a:buNone/>
            </a:pPr>
            <a:r>
              <a:rPr lang="en-US" sz="26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935504" y="2007275"/>
            <a:ext cx="2786301" cy="348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150"/>
              <a:buFont typeface="Roboto Slab"/>
              <a:buNone/>
            </a:pPr>
            <a:r>
              <a:rPr lang="en-US" sz="215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Variables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935504" y="2489240"/>
            <a:ext cx="3483769" cy="356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Donde: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935504" y="2979539"/>
            <a:ext cx="3483769" cy="1069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x_new, y_new y z_new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son los nuevos valores actualizados de las variables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935504" y="4183023"/>
            <a:ext cx="3483769" cy="71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x_old, y_old y z_old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son los valores iniciales de las variables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935504" y="5029914"/>
            <a:ext cx="3483769" cy="71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α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es el tamaño del paso o la tasa de aprendizaje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935504" y="5876806"/>
            <a:ext cx="3483769" cy="1426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∂f/∂x, ∂f/∂y y ∂f/∂z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son las derivadas parciales de la función </a:t>
            </a: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con respecto a </a:t>
            </a: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z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, respectivamente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9642158" y="2007275"/>
            <a:ext cx="501491" cy="501491"/>
          </a:xfrm>
          <a:prstGeom prst="roundRect">
            <a:avLst>
              <a:gd fmla="val 6667" name="adj"/>
            </a:avLst>
          </a:prstGeom>
          <a:solidFill>
            <a:srgbClr val="3F46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9802654" y="2090857"/>
            <a:ext cx="180499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600"/>
              <a:buFont typeface="Roboto Slab"/>
              <a:buNone/>
            </a:pPr>
            <a:r>
              <a:rPr lang="en-US" sz="26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0366534" y="2007275"/>
            <a:ext cx="2786301" cy="348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150"/>
              <a:buFont typeface="Roboto Slab"/>
              <a:buNone/>
            </a:pPr>
            <a:r>
              <a:rPr lang="en-US" sz="215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Aplicación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0366534" y="2489240"/>
            <a:ext cx="3483769" cy="3209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Esta fórmula nos permite ajustar los valores de las tres variables (</a:t>
            </a: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z</a:t>
            </a: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) simultáneamente, siguiendo la dirección opuesta al gradiente tridimensional. Esto nos ayuda a navegar eficientemente a través del paisaje de la función y encontrar el mínimo global con mayor precisión.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0366534" y="5832277"/>
            <a:ext cx="3483769" cy="1782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La elección de un tamaño de paso adecuado sigue siendo fundamental para lograr una convergencia óptima hacia la solución deseada.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714970" y="813197"/>
            <a:ext cx="7714059" cy="1915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4000"/>
              <a:buFont typeface="Roboto Slab"/>
              <a:buNone/>
            </a:pPr>
            <a:r>
              <a:rPr lang="en-US" sz="40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Descenso del Gradiente en Espacios de Alta Dimensionalidad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14970" y="3034784"/>
            <a:ext cx="7714059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600"/>
              <a:buFont typeface="Roboto"/>
              <a:buNone/>
            </a:pPr>
            <a:r>
              <a:rPr lang="en-US" sz="16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 medida que aumentamos el número de variables o dimensiones, el descenso del gradiente se vuelve aún más poderoso, pero también más desafiante. En problemas con decenas, cientos o incluso miles de variables, debemos actualizar todas ellas simultáneamente en la dirección opuesta al gradiente multidimensional.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14970" y="4571881"/>
            <a:ext cx="7714059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600"/>
              <a:buFont typeface="Roboto"/>
              <a:buNone/>
            </a:pPr>
            <a:r>
              <a:rPr lang="en-US" sz="16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Esta extensión a espacios de alta dimensionalidad nos permite explorar y optimizar funciones complejas con un gran número de parámetros. Resulta especialmente útil en áreas como el aprendizaje profundo, la optimización de portafolios y la predicción de series de tiempo de alta complejidad.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714970" y="6108978"/>
            <a:ext cx="7714059" cy="1307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600"/>
              <a:buFont typeface="Roboto"/>
              <a:buNone/>
            </a:pPr>
            <a:r>
              <a:rPr lang="en-US" sz="16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Sin embargo, a medida que aumenta la dimensionalidad, también se incrementa la dificultad para visualizar y entender el comportamiento de la función objetivo. Esto requiere técnicas de análisis y depuración más sofisticadas para garantizar una convergencia eficiente hacia la solución óptima.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/>
          <p:nvPr/>
        </p:nvSpPr>
        <p:spPr>
          <a:xfrm>
            <a:off x="455771" y="625435"/>
            <a:ext cx="6761798" cy="429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3350"/>
              <a:buFont typeface="Roboto Slab"/>
              <a:buNone/>
            </a:pPr>
            <a:r>
              <a:rPr lang="en-US" sz="335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n</a:t>
            </a:r>
            <a:endParaRPr sz="3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022640" y="1217771"/>
            <a:ext cx="1627942" cy="20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50"/>
              <a:buFont typeface="Roboto Slab"/>
              <a:buNone/>
            </a:pPr>
            <a:r>
              <a:rPr lang="en-US" sz="125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Variables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55771" y="1499235"/>
            <a:ext cx="6761798" cy="208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n dimensiones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7412831" y="625435"/>
            <a:ext cx="6761798" cy="429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3350"/>
              <a:buFont typeface="Roboto Slab"/>
              <a:buNone/>
            </a:pPr>
            <a:r>
              <a:rPr lang="en-US" sz="335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∂f/∂x</a:t>
            </a:r>
            <a:endParaRPr sz="3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9979700" y="1217771"/>
            <a:ext cx="1627942" cy="20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50"/>
              <a:buFont typeface="Roboto Slab"/>
              <a:buNone/>
            </a:pPr>
            <a:r>
              <a:rPr lang="en-US" sz="125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Derivadas parciales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7412831" y="1499235"/>
            <a:ext cx="6761798" cy="208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 la función f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5771" y="2163247"/>
            <a:ext cx="6761798" cy="429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3350"/>
              <a:buFont typeface="Roboto Slab"/>
              <a:buNone/>
            </a:pPr>
            <a:r>
              <a:rPr lang="en-US" sz="335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α</a:t>
            </a:r>
            <a:endParaRPr sz="3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3022640" y="2755583"/>
            <a:ext cx="1627942" cy="20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50"/>
              <a:buFont typeface="Roboto Slab"/>
              <a:buNone/>
            </a:pPr>
            <a:r>
              <a:rPr lang="en-US" sz="125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Tasa de aprendizaje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55771" y="3037046"/>
            <a:ext cx="6761798" cy="208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Tamaño del paso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7412831" y="2163247"/>
            <a:ext cx="6761798" cy="429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3350"/>
              <a:buFont typeface="Roboto Slab"/>
              <a:buNone/>
            </a:pPr>
            <a:r>
              <a:rPr lang="en-US" sz="335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x_new</a:t>
            </a:r>
            <a:endParaRPr sz="3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9979700" y="2755583"/>
            <a:ext cx="1627942" cy="20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50"/>
              <a:buFont typeface="Roboto Slab"/>
              <a:buNone/>
            </a:pPr>
            <a:r>
              <a:rPr lang="en-US" sz="125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Nuevos valores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7412831" y="3037046"/>
            <a:ext cx="6761798" cy="208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 las variables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55771" y="3440668"/>
            <a:ext cx="11251406" cy="406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2550"/>
              <a:buFont typeface="Roboto Slab"/>
              <a:buNone/>
            </a:pPr>
            <a:r>
              <a:rPr lang="en-US" sz="255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Fórmula del Descenso del Gradiente en Espacios de Alta Dimensionalidad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55771" y="4042886"/>
            <a:ext cx="13718858" cy="208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La fórmula general del descenso del gradiente en espacios de más de 3 dimensiones se expresa de la siguiente manera: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5771" y="4397693"/>
            <a:ext cx="13718858" cy="1237059"/>
          </a:xfrm>
          <a:prstGeom prst="roundRect">
            <a:avLst>
              <a:gd fmla="val 1579" name="adj"/>
            </a:avLst>
          </a:prstGeom>
          <a:solidFill>
            <a:srgbClr val="08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449342" y="4397693"/>
            <a:ext cx="13731716" cy="1237059"/>
          </a:xfrm>
          <a:prstGeom prst="roundRect">
            <a:avLst>
              <a:gd fmla="val 1579" name="adj"/>
            </a:avLst>
          </a:prstGeom>
          <a:solidFill>
            <a:srgbClr val="08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579477" y="4495324"/>
            <a:ext cx="13471446" cy="1041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6E5EF"/>
                </a:solidFill>
                <a:highlight>
                  <a:srgbClr val="082545"/>
                </a:highlight>
                <a:latin typeface="Consolas"/>
                <a:ea typeface="Consolas"/>
                <a:cs typeface="Consolas"/>
                <a:sym typeface="Consolas"/>
              </a:rPr>
              <a:t>x₁_new = x₁_old - α * ∂f/∂x₁</a:t>
            </a:r>
            <a:br>
              <a:rPr lang="en-US" sz="1000">
                <a:solidFill>
                  <a:srgbClr val="D6E5EF"/>
                </a:solidFill>
                <a:highlight>
                  <a:srgbClr val="082545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D6E5EF"/>
                </a:solidFill>
                <a:highlight>
                  <a:srgbClr val="082545"/>
                </a:highlight>
                <a:latin typeface="Consolas"/>
                <a:ea typeface="Consolas"/>
                <a:cs typeface="Consolas"/>
                <a:sym typeface="Consolas"/>
              </a:rPr>
              <a:t>x₂_new = x₂_old - α * ∂f/∂x₂</a:t>
            </a:r>
            <a:br>
              <a:rPr lang="en-US" sz="1000">
                <a:solidFill>
                  <a:srgbClr val="D6E5EF"/>
                </a:solidFill>
                <a:highlight>
                  <a:srgbClr val="082545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D6E5EF"/>
                </a:solidFill>
                <a:highlight>
                  <a:srgbClr val="082545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br>
              <a:rPr lang="en-US" sz="1000">
                <a:solidFill>
                  <a:srgbClr val="D6E5EF"/>
                </a:solidFill>
                <a:highlight>
                  <a:srgbClr val="082545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D6E5EF"/>
                </a:solidFill>
                <a:highlight>
                  <a:srgbClr val="082545"/>
                </a:highlight>
                <a:latin typeface="Consolas"/>
                <a:ea typeface="Consolas"/>
                <a:cs typeface="Consolas"/>
                <a:sym typeface="Consolas"/>
              </a:rPr>
              <a:t>xₙ_new = xₙ_old - α * ∂f/∂xₙ</a:t>
            </a:r>
            <a:br>
              <a:rPr lang="en-US" sz="1000">
                <a:solidFill>
                  <a:srgbClr val="D6E5EF"/>
                </a:solidFill>
                <a:highlight>
                  <a:srgbClr val="082545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55771" y="5781199"/>
            <a:ext cx="13718858" cy="208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Donde: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5771" y="6136005"/>
            <a:ext cx="13718858" cy="208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Char char="•"/>
            </a:pPr>
            <a:r>
              <a:rPr b="1"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x₁_new, x₂_new, ..., xₙ_new</a:t>
            </a:r>
            <a:r>
              <a:rPr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son los nuevos valores actualizados de las </a:t>
            </a:r>
            <a:r>
              <a:rPr b="1"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variables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55771" y="6389846"/>
            <a:ext cx="13718858" cy="208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Char char="•"/>
            </a:pPr>
            <a:r>
              <a:rPr b="1"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x₁_old, x₂_old, ..., xₙ_old</a:t>
            </a:r>
            <a:r>
              <a:rPr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son los valores iniciales de las </a:t>
            </a:r>
            <a:r>
              <a:rPr b="1"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variables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55771" y="6643688"/>
            <a:ext cx="13718858" cy="208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Char char="•"/>
            </a:pPr>
            <a:r>
              <a:rPr b="1"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α</a:t>
            </a:r>
            <a:r>
              <a:rPr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es el tamaño del paso o la tasa de aprendizaje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55771" y="6897529"/>
            <a:ext cx="13718858" cy="208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Char char="•"/>
            </a:pPr>
            <a:r>
              <a:rPr b="1"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∂f/∂x₁, ∂f/∂x₂, ..., ∂f/∂xₙ</a:t>
            </a:r>
            <a:r>
              <a:rPr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son las derivadas parciales de la función </a:t>
            </a:r>
            <a:r>
              <a:rPr b="1"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con respecto a cada una de las </a:t>
            </a:r>
            <a:r>
              <a:rPr b="1"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variables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55771" y="7252335"/>
            <a:ext cx="13718858" cy="416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Esta fórmula nos permite actualizar simultáneamente todos los parámetros del modelo en la dirección opuesta al gradiente multidimensional. Esto nos ayuda a navegar eficientemente a través de espacios de soluciones de alta complejidad y dimensionalidad.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/>
          <p:nvPr/>
        </p:nvSpPr>
        <p:spPr>
          <a:xfrm>
            <a:off x="681633" y="537805"/>
            <a:ext cx="13267134" cy="121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3800"/>
              <a:buFont typeface="Roboto Slab"/>
              <a:buNone/>
            </a:pPr>
            <a:r>
              <a:rPr lang="en-US" sz="38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Dominar el Descenso del Gradiente: Pasos Clave y Perspectivas Futuras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4" name="Google Shape;1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633" y="2144554"/>
            <a:ext cx="973812" cy="174521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/>
          <p:nvPr/>
        </p:nvSpPr>
        <p:spPr>
          <a:xfrm>
            <a:off x="1947505" y="2339221"/>
            <a:ext cx="2434709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00"/>
              <a:buFont typeface="Roboto Slab"/>
              <a:buNone/>
            </a:pPr>
            <a:r>
              <a:rPr lang="en-US" sz="19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Resumen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947505" y="2760345"/>
            <a:ext cx="12001262" cy="934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Roboto"/>
              <a:buNone/>
            </a:pPr>
            <a:r>
              <a:rPr lang="en-US" sz="15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En esta presentación, hemos explorado en profundidad el descenso del gradiente, una herramienta fundamental en el campo del aprendizaje automático y la optimización. Desde el caso bidimensional hasta espacios de alta dimensionalidad, hemos desglosado las fórmulas clave y los pasos a seguir para aplicar esta técnica de manera efectiva.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7" name="Google Shape;15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633" y="3889772"/>
            <a:ext cx="973812" cy="174521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/>
          <p:nvPr/>
        </p:nvSpPr>
        <p:spPr>
          <a:xfrm>
            <a:off x="1947505" y="4084439"/>
            <a:ext cx="3786307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00"/>
              <a:buFont typeface="Roboto Slab"/>
              <a:buNone/>
            </a:pPr>
            <a:r>
              <a:rPr lang="en-US" sz="19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Poder del Descenso del Gradiente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947505" y="4505563"/>
            <a:ext cx="12001262" cy="934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Roboto"/>
              <a:buNone/>
            </a:pPr>
            <a:r>
              <a:rPr lang="en-US" sz="15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La capacidad de actualizar múltiples variables simultáneamente en la dirección opuesta al gradiente nos permite navegar eficientemente a través de paisajes de funciones complejas, encontrando los mínimos globales con precisión. Esta versatilidad lo convierte en un aliado invaluable para resolver problemas de optimización de gran escala.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" name="Google Shape;16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633" y="5634990"/>
            <a:ext cx="973812" cy="205680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/>
          <p:nvPr/>
        </p:nvSpPr>
        <p:spPr>
          <a:xfrm>
            <a:off x="1947505" y="5829657"/>
            <a:ext cx="3638669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00"/>
              <a:buFont typeface="Roboto Slab"/>
              <a:buNone/>
            </a:pPr>
            <a:r>
              <a:rPr lang="en-US" sz="19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Desafíos y Perspectivas Futuras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1947505" y="6250781"/>
            <a:ext cx="12001262" cy="1246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Roboto"/>
              <a:buNone/>
            </a:pPr>
            <a:r>
              <a:rPr lang="en-US" sz="15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Conforme avanzamos hacia el futuro, los desafíos de escalabilidad y visualización en espacios de alta dimensionalidad seguirán siendo el foco de investigación. Sin embargo, estamos seguros de que los continuos avances en computación y análisis de datos impulsarán aún más el desarrollo y la aplicación del descenso del gradiente, convirtiéndolo en una herramienta aún más poderosa en nuestro arsenal analítico.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2024-11-04T21:17:10Z</dcterms:created>
  <dc:creator>PptxGenJS</dc:creator>
</cp:coreProperties>
</file>